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LeftPanel"/>
          <p:cNvSpPr/>
          <p:nvPr/>
        </p:nvSpPr>
        <p:spPr>
          <a:xfrm>
            <a:off x="0" y="0"/>
            <a:ext cx="5200000" cy="6858000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4" name="MainTitle"/>
          <p:cNvSpPr txBox="1"/>
          <p:nvPr/>
        </p:nvSpPr>
        <p:spPr>
          <a:xfrm>
            <a:off x="500000" y="1500000"/>
            <a:ext cx="4200000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7200" b="1">
                <a:solidFill>
                  <a:srgbClr val="FFFFFF"/>
                </a:solidFill>
                <a:latin typeface="Calibri"/>
              </a:rPr>
              <a:t>SİVAS</a:t>
            </a:r>
          </a:p>
        </p:txBody>
      </p:sp>
      <p:sp>
        <p:nvSpPr>
          <p:cNvPr id="5" name="Sub1"/>
          <p:cNvSpPr txBox="1"/>
          <p:nvPr/>
        </p:nvSpPr>
        <p:spPr>
          <a:xfrm>
            <a:off x="500000" y="3200000"/>
            <a:ext cx="42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2600" b="0" dirty="0">
                <a:solidFill>
                  <a:srgbClr val="FFCCCC"/>
                </a:solidFill>
                <a:latin typeface="Calibri"/>
              </a:rPr>
              <a:t>Tanıtım Sitesi</a:t>
            </a:r>
          </a:p>
        </p:txBody>
      </p:sp>
      <p:sp>
        <p:nvSpPr>
          <p:cNvPr id="6" name="Sub2"/>
          <p:cNvSpPr txBox="1"/>
          <p:nvPr/>
        </p:nvSpPr>
        <p:spPr>
          <a:xfrm>
            <a:off x="500000" y="3750000"/>
            <a:ext cx="42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1400" b="0" dirty="0">
                <a:solidFill>
                  <a:srgbClr val="FFAAAA"/>
                </a:solidFill>
                <a:latin typeface="Calibri"/>
              </a:rPr>
              <a:t>İnternet Teknolojileri Dersi Projesi</a:t>
            </a:r>
          </a:p>
        </p:txBody>
      </p:sp>
      <p:sp>
        <p:nvSpPr>
          <p:cNvPr id="10" name="Card10"/>
          <p:cNvSpPr>
            <a:spLocks/>
          </p:cNvSpPr>
          <p:nvPr/>
        </p:nvSpPr>
        <p:spPr>
          <a:xfrm>
            <a:off x="5700000" y="1200000"/>
            <a:ext cx="5988952" cy="44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 dirty="0">
                <a:solidFill>
                  <a:srgbClr val="6B0000"/>
                </a:solidFill>
                <a:latin typeface="Calibri"/>
              </a:rPr>
              <a:t>Ne Yaptık?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>•  Sivas ilini tanıtma amaçlı web sitesi hazırladık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>•  HTML ve CSS kullandık, JavaScript kullanmadık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>•  İçerikler araştırılarak yazıldı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•  </a:t>
            </a:r>
            <a:r>
              <a:rPr lang="tr-TR" sz="1200" b="0" dirty="0" err="1">
                <a:solidFill>
                  <a:srgbClr val="555555"/>
                </a:solidFill>
                <a:latin typeface="Calibri"/>
              </a:rPr>
              <a:t>Lighthouse</a:t>
            </a: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 ile performans testi yapıldı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•  </a:t>
            </a:r>
            <a:r>
              <a:rPr lang="tr-TR" sz="1200" b="0" dirty="0" err="1">
                <a:solidFill>
                  <a:srgbClr val="555555"/>
                </a:solidFill>
                <a:latin typeface="Calibri"/>
              </a:rPr>
              <a:t>GitHub</a:t>
            </a: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 </a:t>
            </a:r>
            <a:r>
              <a:rPr lang="tr-TR" sz="1200" b="0" dirty="0" err="1">
                <a:solidFill>
                  <a:srgbClr val="555555"/>
                </a:solidFill>
                <a:latin typeface="Calibri"/>
              </a:rPr>
              <a:t>Pages</a:t>
            </a: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 üzerinden yayına alındı</a:t>
            </a:r>
          </a:p>
        </p:txBody>
      </p:sp>
      <p:sp>
        <p:nvSpPr>
          <p:cNvPr id="15" name="Card10">
            <a:extLst>
              <a:ext uri="{FF2B5EF4-FFF2-40B4-BE49-F238E27FC236}">
                <a16:creationId xmlns:a16="http://schemas.microsoft.com/office/drawing/2014/main" id="{43FAB190-A035-CDD8-D416-10AFF4906255}"/>
              </a:ext>
            </a:extLst>
          </p:cNvPr>
          <p:cNvSpPr>
            <a:spLocks/>
          </p:cNvSpPr>
          <p:nvPr/>
        </p:nvSpPr>
        <p:spPr>
          <a:xfrm>
            <a:off x="500000" y="4250005"/>
            <a:ext cx="3708333" cy="177127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b="1" dirty="0">
                <a:solidFill>
                  <a:srgbClr val="6B0000"/>
                </a:solidFill>
                <a:latin typeface="Calibri"/>
              </a:rPr>
              <a:t xml:space="preserve">Hazırlayanlar: 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rgbClr val="555555"/>
                </a:solidFill>
                <a:latin typeface="Calibri"/>
              </a:rPr>
              <a:t>Muhammet Mücahit Soylu 2023123063</a:t>
            </a:r>
          </a:p>
          <a:p>
            <a:pPr marL="171450" indent="-1714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tr-TR" sz="1200" b="1" dirty="0">
                <a:solidFill>
                  <a:srgbClr val="555555"/>
                </a:solidFill>
                <a:latin typeface="Calibri"/>
              </a:rPr>
              <a:t>Serdar Aydın 2023123006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Proje Hakkında</a:t>
            </a:r>
          </a:p>
        </p:txBody>
      </p:sp>
      <p:sp>
        <p:nvSpPr>
          <p:cNvPr id="10" name="Card10"/>
          <p:cNvSpPr/>
          <p:nvPr/>
        </p:nvSpPr>
        <p:spPr>
          <a:xfrm>
            <a:off x="500000" y="1250000"/>
            <a:ext cx="3540000" cy="2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Amaç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Sivas ilini tanıtma amaçlı tek sayfalik bir web sitesi hazırladık.</a:t>
            </a:r>
          </a:p>
        </p:txBody>
      </p:sp>
      <p:sp>
        <p:nvSpPr>
          <p:cNvPr id="110" name="Badge1"/>
          <p:cNvSpPr/>
          <p:nvPr/>
        </p:nvSpPr>
        <p:spPr>
          <a:xfrm>
            <a:off x="700000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Card11"/>
          <p:cNvSpPr>
            <a:spLocks/>
          </p:cNvSpPr>
          <p:nvPr/>
        </p:nvSpPr>
        <p:spPr>
          <a:xfrm>
            <a:off x="4324476" y="1250000"/>
            <a:ext cx="3540000" cy="2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Kapsam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Tarih, yöresel yemekler, ilçeler, gezilecek yerler, kültür ve el sanatları.</a:t>
            </a:r>
          </a:p>
        </p:txBody>
      </p:sp>
      <p:sp>
        <p:nvSpPr>
          <p:cNvPr id="111" name="Badge2"/>
          <p:cNvSpPr/>
          <p:nvPr/>
        </p:nvSpPr>
        <p:spPr>
          <a:xfrm>
            <a:off x="4524476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Card12"/>
          <p:cNvSpPr>
            <a:spLocks/>
          </p:cNvSpPr>
          <p:nvPr/>
        </p:nvSpPr>
        <p:spPr>
          <a:xfrm>
            <a:off x="8148952" y="1250000"/>
            <a:ext cx="3540000" cy="2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Hedef Kitle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Sivas'ı tanıtma amaçlı ders projesi olarak hazırlandığı için genel kamuya yönelik.</a:t>
            </a:r>
          </a:p>
        </p:txBody>
      </p:sp>
      <p:sp>
        <p:nvSpPr>
          <p:cNvPr id="112" name="Badge3"/>
          <p:cNvSpPr/>
          <p:nvPr/>
        </p:nvSpPr>
        <p:spPr>
          <a:xfrm>
            <a:off x="8348952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Kullanılan Teknolojiler</a:t>
            </a:r>
          </a:p>
        </p:txBody>
      </p:sp>
      <p:sp>
        <p:nvSpPr>
          <p:cNvPr id="10" name="Card10"/>
          <p:cNvSpPr>
            <a:spLocks/>
          </p:cNvSpPr>
          <p:nvPr/>
        </p:nvSpPr>
        <p:spPr>
          <a:xfrm>
            <a:off x="500000" y="1250000"/>
            <a:ext cx="354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HTML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header, nav, main, footer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section, article — semantik bölümler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h1, h2, h3 — başlıklar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table — bilgi tablosu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a href — anchor linkler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span — etiket listesi</a:t>
            </a:r>
          </a:p>
        </p:txBody>
      </p:sp>
      <p:sp>
        <p:nvSpPr>
          <p:cNvPr id="11" name="Card11"/>
          <p:cNvSpPr>
            <a:spLocks/>
          </p:cNvSpPr>
          <p:nvPr/>
        </p:nvSpPr>
        <p:spPr>
          <a:xfrm>
            <a:off x="4324476" y="1250000"/>
            <a:ext cx="354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CSS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Internal CSS (style etiketi)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Renk: #8B0000 ana renk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Flexbox — kart dizimi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hover — nav efekti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@media — mobil uyum</a:t>
            </a:r>
          </a:p>
        </p:txBody>
      </p:sp>
      <p:sp>
        <p:nvSpPr>
          <p:cNvPr id="12" name="Card12"/>
          <p:cNvSpPr>
            <a:spLocks/>
          </p:cNvSpPr>
          <p:nvPr/>
        </p:nvSpPr>
        <p:spPr>
          <a:xfrm>
            <a:off x="8148952" y="1250000"/>
            <a:ext cx="354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JavaScript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Kullanmadık.</a:t>
            </a:r>
          </a:p>
          <a:p>
            <a:pPr algn="l">
              <a:lnSpc>
                <a:spcPts val="1800"/>
              </a:lnSpc>
            </a:pPr>
            <a:endParaRPr lang="tr-TR" sz="1200" b="0">
              <a:solidFill>
                <a:srgbClr val="555555"/>
              </a:solidFill>
              <a:latin typeface="Calibri"/>
            </a:endParaRP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Bölümler arası geçiş HTML anchor link ile yapıldı.</a:t>
            </a:r>
          </a:p>
          <a:p>
            <a:pPr algn="l">
              <a:lnSpc>
                <a:spcPts val="1800"/>
              </a:lnSpc>
            </a:pPr>
            <a:endParaRPr lang="tr-TR" sz="1200" b="0">
              <a:solidFill>
                <a:srgbClr val="555555"/>
              </a:solidFill>
              <a:latin typeface="Calibri"/>
            </a:endParaRP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Ekstra bir şeye gerek olmadı.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Sayfanın Yapısı ve Bölümleri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0000" y="1050000"/>
            <a:ext cx="1118895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1300" b="0">
                <a:solidFill>
                  <a:srgbClr val="FFCCCC"/>
                </a:solidFill>
                <a:latin typeface="Calibri"/>
              </a:rPr>
              <a:t>Site tek bir HTML dosyasından oluşuyor. Nav linkleriyle bölümler arası geçiş yapılıyor.</a:t>
            </a:r>
          </a:p>
        </p:txBody>
      </p:sp>
      <p:sp>
        <p:nvSpPr>
          <p:cNvPr id="10" name="Card10"/>
          <p:cNvSpPr/>
          <p:nvPr/>
        </p:nvSpPr>
        <p:spPr>
          <a:xfrm>
            <a:off x="500000" y="1600000"/>
            <a:ext cx="260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Hakkında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Nüfus, rakım, yüzölçümü, üniversite tablosu</a:t>
            </a:r>
          </a:p>
        </p:txBody>
      </p:sp>
      <p:sp>
        <p:nvSpPr>
          <p:cNvPr id="110" name="Badge1"/>
          <p:cNvSpPr/>
          <p:nvPr/>
        </p:nvSpPr>
        <p:spPr>
          <a:xfrm>
            <a:off x="700000" y="17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Card11"/>
          <p:cNvSpPr/>
          <p:nvPr/>
        </p:nvSpPr>
        <p:spPr>
          <a:xfrm>
            <a:off x="3296317" y="1600000"/>
            <a:ext cx="260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Tarihçe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MÖ 2000'den Sivas Kongresi'ne 4 kart</a:t>
            </a:r>
          </a:p>
        </p:txBody>
      </p:sp>
      <p:sp>
        <p:nvSpPr>
          <p:cNvPr id="111" name="Badge2"/>
          <p:cNvSpPr/>
          <p:nvPr/>
        </p:nvSpPr>
        <p:spPr>
          <a:xfrm>
            <a:off x="3496317" y="17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Card12"/>
          <p:cNvSpPr>
            <a:spLocks/>
          </p:cNvSpPr>
          <p:nvPr/>
        </p:nvSpPr>
        <p:spPr>
          <a:xfrm>
            <a:off x="6092634" y="1600000"/>
            <a:ext cx="260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Yöresel Yemekler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8 yemek kartı (Sivas köftesi, hingel vs.)</a:t>
            </a:r>
          </a:p>
        </p:txBody>
      </p:sp>
      <p:sp>
        <p:nvSpPr>
          <p:cNvPr id="112" name="Badge3"/>
          <p:cNvSpPr/>
          <p:nvPr/>
        </p:nvSpPr>
        <p:spPr>
          <a:xfrm>
            <a:off x="6292634" y="17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Card13"/>
          <p:cNvSpPr>
            <a:spLocks/>
          </p:cNvSpPr>
          <p:nvPr/>
        </p:nvSpPr>
        <p:spPr>
          <a:xfrm>
            <a:off x="8888951" y="1600000"/>
            <a:ext cx="260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İlçeler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17 ilçe etiket listesi</a:t>
            </a:r>
          </a:p>
        </p:txBody>
      </p:sp>
      <p:sp>
        <p:nvSpPr>
          <p:cNvPr id="113" name="Badge4"/>
          <p:cNvSpPr/>
          <p:nvPr/>
        </p:nvSpPr>
        <p:spPr>
          <a:xfrm>
            <a:off x="9088951" y="17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4" name="Card14"/>
          <p:cNvSpPr/>
          <p:nvPr/>
        </p:nvSpPr>
        <p:spPr>
          <a:xfrm>
            <a:off x="500000" y="3800000"/>
            <a:ext cx="354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Gezilecek Yerler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6 kart (Divriği Ulu Camii, Balıklı Kaplıca vs.)</a:t>
            </a:r>
          </a:p>
        </p:txBody>
      </p:sp>
      <p:sp>
        <p:nvSpPr>
          <p:cNvPr id="114" name="Badge5"/>
          <p:cNvSpPr/>
          <p:nvPr/>
        </p:nvSpPr>
        <p:spPr>
          <a:xfrm>
            <a:off x="700000" y="39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Card15"/>
          <p:cNvSpPr/>
          <p:nvPr/>
        </p:nvSpPr>
        <p:spPr>
          <a:xfrm>
            <a:off x="4324476" y="3800000"/>
            <a:ext cx="354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Kültür &amp; El Sanatları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Kangal köpeği, kalemkarlık, kilim, aşıklık</a:t>
            </a:r>
          </a:p>
        </p:txBody>
      </p:sp>
      <p:sp>
        <p:nvSpPr>
          <p:cNvPr id="115" name="Badge6"/>
          <p:cNvSpPr/>
          <p:nvPr/>
        </p:nvSpPr>
        <p:spPr>
          <a:xfrm>
            <a:off x="4524476" y="39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6" name="Card16"/>
          <p:cNvSpPr>
            <a:spLocks/>
          </p:cNvSpPr>
          <p:nvPr/>
        </p:nvSpPr>
        <p:spPr>
          <a:xfrm>
            <a:off x="8148952" y="3800000"/>
            <a:ext cx="354000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Ne Alınır?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Yöresel ürünler listesi</a:t>
            </a:r>
          </a:p>
        </p:txBody>
      </p:sp>
      <p:sp>
        <p:nvSpPr>
          <p:cNvPr id="116" name="Badge7"/>
          <p:cNvSpPr/>
          <p:nvPr/>
        </p:nvSpPr>
        <p:spPr>
          <a:xfrm>
            <a:off x="8348952" y="395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Tasarım Tercihleri</a:t>
            </a:r>
          </a:p>
        </p:txBody>
      </p:sp>
      <p:sp>
        <p:nvSpPr>
          <p:cNvPr id="10" name="Card10"/>
          <p:cNvSpPr/>
          <p:nvPr/>
        </p:nvSpPr>
        <p:spPr>
          <a:xfrm>
            <a:off x="500000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Renk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#8B0000 — koyu kırmızı seçtik. Sivas'ın kültürüyle uyumlu olsun diye.</a:t>
            </a:r>
          </a:p>
        </p:txBody>
      </p:sp>
      <p:sp>
        <p:nvSpPr>
          <p:cNvPr id="110" name="Badge1"/>
          <p:cNvSpPr/>
          <p:nvPr/>
        </p:nvSpPr>
        <p:spPr>
          <a:xfrm>
            <a:off x="700000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Card11"/>
          <p:cNvSpPr>
            <a:spLocks/>
          </p:cNvSpPr>
          <p:nvPr/>
        </p:nvSpPr>
        <p:spPr>
          <a:xfrm>
            <a:off x="4324476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Font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Arial kullandık. Tüm tarayıcılarda sorunsuz çalışır ve okunması kolaydır.</a:t>
            </a:r>
          </a:p>
        </p:txBody>
      </p:sp>
      <p:sp>
        <p:nvSpPr>
          <p:cNvPr id="111" name="Badge2"/>
          <p:cNvSpPr/>
          <p:nvPr/>
        </p:nvSpPr>
        <p:spPr>
          <a:xfrm>
            <a:off x="4524476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Card12"/>
          <p:cNvSpPr>
            <a:spLocks/>
          </p:cNvSpPr>
          <p:nvPr/>
        </p:nvSpPr>
        <p:spPr>
          <a:xfrm>
            <a:off x="8148952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Kart Düzeni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İçerikler 2 sütunlu flexbox kart yapısıyla gösterildi. Düzeni sağlar.</a:t>
            </a:r>
          </a:p>
        </p:txBody>
      </p:sp>
      <p:sp>
        <p:nvSpPr>
          <p:cNvPr id="112" name="Badge3"/>
          <p:cNvSpPr/>
          <p:nvPr/>
        </p:nvSpPr>
        <p:spPr>
          <a:xfrm>
            <a:off x="8348952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" name="Card13"/>
          <p:cNvSpPr/>
          <p:nvPr/>
        </p:nvSpPr>
        <p:spPr>
          <a:xfrm>
            <a:off x="500000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Tablo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Genel bilgiler için HTML tablosu kullandık, veriler daha net görünüyor.</a:t>
            </a:r>
          </a:p>
        </p:txBody>
      </p:sp>
      <p:sp>
        <p:nvSpPr>
          <p:cNvPr id="113" name="Badge4"/>
          <p:cNvSpPr/>
          <p:nvPr/>
        </p:nvSpPr>
        <p:spPr>
          <a:xfrm>
            <a:off x="700000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4" name="Card14"/>
          <p:cNvSpPr/>
          <p:nvPr/>
        </p:nvSpPr>
        <p:spPr>
          <a:xfrm>
            <a:off x="4324476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Etiket Listesi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İlçeler ve 'Ne Alınır?' bölümü için tag görünümü tercih ettik.</a:t>
            </a:r>
          </a:p>
        </p:txBody>
      </p:sp>
      <p:sp>
        <p:nvSpPr>
          <p:cNvPr id="114" name="Badge5"/>
          <p:cNvSpPr/>
          <p:nvPr/>
        </p:nvSpPr>
        <p:spPr>
          <a:xfrm>
            <a:off x="4524476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Card15"/>
          <p:cNvSpPr>
            <a:spLocks/>
          </p:cNvSpPr>
          <p:nvPr/>
        </p:nvSpPr>
        <p:spPr>
          <a:xfrm>
            <a:off x="8148952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Emoji Yok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Sade ve dürüst görünmesi için emoji kullanmadık.</a:t>
            </a:r>
          </a:p>
        </p:txBody>
      </p:sp>
      <p:sp>
        <p:nvSpPr>
          <p:cNvPr id="115" name="Badge6"/>
          <p:cNvSpPr/>
          <p:nvPr/>
        </p:nvSpPr>
        <p:spPr>
          <a:xfrm>
            <a:off x="8348952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Lighthouse Testi Sonuçları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00000" y="1050000"/>
            <a:ext cx="1118895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1300" b="0">
                <a:solidFill>
                  <a:srgbClr val="FFCCCC"/>
                </a:solidFill>
                <a:latin typeface="Calibri"/>
              </a:rPr>
              <a:t>GitHub Pages (HTTPS) üzerinden masaüstü ve mobil test ettik.</a:t>
            </a:r>
          </a:p>
        </p:txBody>
      </p:sp>
      <p:sp>
        <p:nvSpPr>
          <p:cNvPr id="10" name="Card10"/>
          <p:cNvSpPr/>
          <p:nvPr/>
        </p:nvSpPr>
        <p:spPr>
          <a:xfrm>
            <a:off x="600476" y="1450000"/>
            <a:ext cx="260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700476" y="1650000"/>
            <a:ext cx="24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tr-TR" sz="1600" b="1">
                <a:solidFill>
                  <a:srgbClr val="6B0000"/>
                </a:solidFill>
                <a:latin typeface="Calibri"/>
              </a:rPr>
              <a:t>Performance</a:t>
            </a:r>
          </a:p>
          <a:p>
            <a:pPr algn="ctr">
              <a:spcAft>
                <a:spcPts val="300"/>
              </a:spcAft>
            </a:pPr>
            <a:r>
              <a:rPr lang="tr-TR" sz="5400" b="1">
                <a:solidFill>
                  <a:srgbClr val="2E7D32"/>
                </a:solidFill>
                <a:latin typeface="Calibri"/>
              </a:rPr>
              <a:t>98</a:t>
            </a:r>
          </a:p>
          <a:p>
            <a:pPr algn="ctr">
              <a:spcAft>
                <a:spcPts val="600"/>
              </a:spcAft>
            </a:pPr>
            <a:r>
              <a:rPr lang="tr-TR" sz="1000" b="0">
                <a:solidFill>
                  <a:srgbClr val="999999"/>
                </a:solidFill>
                <a:latin typeface="Calibri"/>
              </a:rPr>
              <a:t>ortalama puan</a:t>
            </a:r>
          </a:p>
          <a:p>
            <a:pPr algn="ctr">
              <a:spcAft>
                <a:spcPts val="400"/>
              </a:spcAft>
            </a:pPr>
            <a:r>
              <a:rPr lang="tr-TR" sz="800" b="0">
                <a:solidFill>
                  <a:srgbClr val="E0E0E0"/>
                </a:solidFill>
                <a:latin typeface="Calibri"/>
              </a:rPr>
              <a:t>────────────────────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Masaüstü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100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Mobil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95</a:t>
            </a:r>
          </a:p>
        </p:txBody>
      </p:sp>
      <p:sp>
        <p:nvSpPr>
          <p:cNvPr id="12" name="Card12"/>
          <p:cNvSpPr/>
          <p:nvPr/>
        </p:nvSpPr>
        <p:spPr>
          <a:xfrm>
            <a:off x="3396476" y="1450000"/>
            <a:ext cx="260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3496476" y="1650000"/>
            <a:ext cx="24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tr-TR" sz="1600" b="1">
                <a:solidFill>
                  <a:srgbClr val="6B0000"/>
                </a:solidFill>
                <a:latin typeface="Calibri"/>
              </a:rPr>
              <a:t>Accessibility</a:t>
            </a:r>
          </a:p>
          <a:p>
            <a:pPr algn="ctr">
              <a:spcAft>
                <a:spcPts val="300"/>
              </a:spcAft>
            </a:pPr>
            <a:r>
              <a:rPr lang="tr-TR" sz="5400" b="1">
                <a:solidFill>
                  <a:srgbClr val="2E7D32"/>
                </a:solidFill>
                <a:latin typeface="Calibri"/>
              </a:rPr>
              <a:t>100</a:t>
            </a:r>
          </a:p>
          <a:p>
            <a:pPr algn="ctr">
              <a:spcAft>
                <a:spcPts val="600"/>
              </a:spcAft>
            </a:pPr>
            <a:r>
              <a:rPr lang="tr-TR" sz="1000" b="0">
                <a:solidFill>
                  <a:srgbClr val="999999"/>
                </a:solidFill>
                <a:latin typeface="Calibri"/>
              </a:rPr>
              <a:t>ortalama puan</a:t>
            </a:r>
          </a:p>
          <a:p>
            <a:pPr algn="ctr">
              <a:spcAft>
                <a:spcPts val="400"/>
              </a:spcAft>
            </a:pPr>
            <a:r>
              <a:rPr lang="tr-TR" sz="800" b="0">
                <a:solidFill>
                  <a:srgbClr val="E0E0E0"/>
                </a:solidFill>
                <a:latin typeface="Calibri"/>
              </a:rPr>
              <a:t>────────────────────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Masaüstü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100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Mobil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100</a:t>
            </a:r>
          </a:p>
        </p:txBody>
      </p:sp>
      <p:sp>
        <p:nvSpPr>
          <p:cNvPr id="14" name="Card14"/>
          <p:cNvSpPr/>
          <p:nvPr/>
        </p:nvSpPr>
        <p:spPr>
          <a:xfrm>
            <a:off x="6192476" y="1450000"/>
            <a:ext cx="260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5" name="Text15"/>
          <p:cNvSpPr txBox="1"/>
          <p:nvPr/>
        </p:nvSpPr>
        <p:spPr>
          <a:xfrm>
            <a:off x="6292476" y="1650000"/>
            <a:ext cx="24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tr-TR" sz="1600" b="1">
                <a:solidFill>
                  <a:srgbClr val="6B0000"/>
                </a:solidFill>
                <a:latin typeface="Calibri"/>
              </a:rPr>
              <a:t>Best Practices</a:t>
            </a:r>
          </a:p>
          <a:p>
            <a:pPr algn="ctr">
              <a:spcAft>
                <a:spcPts val="300"/>
              </a:spcAft>
            </a:pPr>
            <a:r>
              <a:rPr lang="tr-TR" sz="5400" b="1">
                <a:solidFill>
                  <a:srgbClr val="2E7D32"/>
                </a:solidFill>
                <a:latin typeface="Calibri"/>
              </a:rPr>
              <a:t>100</a:t>
            </a:r>
          </a:p>
          <a:p>
            <a:pPr algn="ctr">
              <a:spcAft>
                <a:spcPts val="600"/>
              </a:spcAft>
            </a:pPr>
            <a:r>
              <a:rPr lang="tr-TR" sz="1000" b="0">
                <a:solidFill>
                  <a:srgbClr val="999999"/>
                </a:solidFill>
                <a:latin typeface="Calibri"/>
              </a:rPr>
              <a:t>ortalama puan</a:t>
            </a:r>
          </a:p>
          <a:p>
            <a:pPr algn="ctr">
              <a:spcAft>
                <a:spcPts val="400"/>
              </a:spcAft>
            </a:pPr>
            <a:r>
              <a:rPr lang="tr-TR" sz="800" b="0">
                <a:solidFill>
                  <a:srgbClr val="E0E0E0"/>
                </a:solidFill>
                <a:latin typeface="Calibri"/>
              </a:rPr>
              <a:t>────────────────────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Masaüstü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100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Mobil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100</a:t>
            </a:r>
          </a:p>
        </p:txBody>
      </p:sp>
      <p:sp>
        <p:nvSpPr>
          <p:cNvPr id="16" name="Card16"/>
          <p:cNvSpPr/>
          <p:nvPr/>
        </p:nvSpPr>
        <p:spPr>
          <a:xfrm>
            <a:off x="8988476" y="1450000"/>
            <a:ext cx="260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7" name="Text17"/>
          <p:cNvSpPr txBox="1"/>
          <p:nvPr/>
        </p:nvSpPr>
        <p:spPr>
          <a:xfrm>
            <a:off x="9088476" y="1650000"/>
            <a:ext cx="2400000" cy="30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400"/>
              </a:spcAft>
            </a:pPr>
            <a:r>
              <a:rPr lang="tr-TR" sz="1600" b="1">
                <a:solidFill>
                  <a:srgbClr val="6B0000"/>
                </a:solidFill>
                <a:latin typeface="Calibri"/>
              </a:rPr>
              <a:t>SEO</a:t>
            </a:r>
          </a:p>
          <a:p>
            <a:pPr algn="ctr">
              <a:spcAft>
                <a:spcPts val="300"/>
              </a:spcAft>
            </a:pPr>
            <a:r>
              <a:rPr lang="tr-TR" sz="5400" b="1">
                <a:solidFill>
                  <a:srgbClr val="2E7D32"/>
                </a:solidFill>
                <a:latin typeface="Calibri"/>
              </a:rPr>
              <a:t>90</a:t>
            </a:r>
          </a:p>
          <a:p>
            <a:pPr algn="ctr">
              <a:spcAft>
                <a:spcPts val="600"/>
              </a:spcAft>
            </a:pPr>
            <a:r>
              <a:rPr lang="tr-TR" sz="1000" b="0">
                <a:solidFill>
                  <a:srgbClr val="999999"/>
                </a:solidFill>
                <a:latin typeface="Calibri"/>
              </a:rPr>
              <a:t>ortalama puan</a:t>
            </a:r>
          </a:p>
          <a:p>
            <a:pPr algn="ctr">
              <a:spcAft>
                <a:spcPts val="400"/>
              </a:spcAft>
            </a:pPr>
            <a:r>
              <a:rPr lang="tr-TR" sz="800" b="0">
                <a:solidFill>
                  <a:srgbClr val="E0E0E0"/>
                </a:solidFill>
                <a:latin typeface="Calibri"/>
              </a:rPr>
              <a:t>────────────────────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Masaüstü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90</a:t>
            </a:r>
          </a:p>
          <a:p>
            <a:pPr algn="ctr">
              <a:lnSpc>
                <a:spcPts val="1600"/>
              </a:lnSpc>
            </a:pPr>
            <a:r>
              <a:rPr lang="tr-TR" sz="1000" b="0">
                <a:solidFill>
                  <a:srgbClr val="888888"/>
                </a:solidFill>
                <a:latin typeface="Calibri"/>
              </a:rPr>
              <a:t xml:space="preserve">HTTPS Mobil  </a:t>
            </a:r>
            <a:r>
              <a:rPr lang="tr-TR" sz="1100" b="1">
                <a:solidFill>
                  <a:srgbClr val="2E7D32"/>
                </a:solidFill>
                <a:latin typeface="Calibri"/>
              </a:rPr>
              <a:t>90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00000" y="4950000"/>
            <a:ext cx="11188952" cy="2000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tr-TR" sz="1200" b="0">
                <a:solidFill>
                  <a:srgbClr val="2E7D32"/>
                </a:solidFill>
                <a:latin typeface="Calibri"/>
              </a:rPr>
              <a:t xml:space="preserve">● </a:t>
            </a:r>
            <a:r>
              <a:rPr lang="tr-TR" sz="1100" b="0">
                <a:solidFill>
                  <a:srgbClr val="2E7D32"/>
                </a:solidFill>
                <a:latin typeface="Calibri"/>
              </a:rPr>
              <a:t xml:space="preserve">90+     </a:t>
            </a:r>
            <a:r>
              <a:rPr lang="tr-TR" sz="1200" b="0">
                <a:solidFill>
                  <a:srgbClr val="555555"/>
                </a:solidFill>
                <a:latin typeface="Calibri"/>
              </a:rPr>
              <a:t xml:space="preserve">● </a:t>
            </a:r>
            <a:r>
              <a:rPr lang="tr-TR" sz="1100" b="0">
                <a:solidFill>
                  <a:srgbClr val="555555"/>
                </a:solidFill>
                <a:latin typeface="Calibri"/>
              </a:rPr>
              <a:t xml:space="preserve">80–89     </a:t>
            </a:r>
            <a:r>
              <a:rPr lang="tr-TR" sz="1200" b="0">
                <a:solidFill>
                  <a:srgbClr val="E65100"/>
                </a:solidFill>
                <a:latin typeface="Calibri"/>
              </a:rPr>
              <a:t xml:space="preserve">● </a:t>
            </a:r>
            <a:r>
              <a:rPr lang="tr-TR" sz="1100" b="0">
                <a:solidFill>
                  <a:srgbClr val="E65100"/>
                </a:solidFill>
                <a:latin typeface="Calibri"/>
              </a:rPr>
              <a:t>80 altı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500000" y="5230000"/>
            <a:ext cx="11188952" cy="2000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tr-TR" sz="1100" b="1" dirty="0">
                <a:solidFill>
                  <a:srgbClr val="FFCCCC"/>
                </a:solidFill>
                <a:latin typeface="Calibri"/>
              </a:rPr>
              <a:t xml:space="preserve">Best </a:t>
            </a:r>
            <a:r>
              <a:rPr lang="tr-TR" sz="1100" b="1" dirty="0" err="1">
                <a:solidFill>
                  <a:srgbClr val="FFCCCC"/>
                </a:solidFill>
                <a:latin typeface="Calibri"/>
              </a:rPr>
              <a:t>Practices</a:t>
            </a:r>
            <a:r>
              <a:rPr lang="tr-TR" sz="1100" b="1" dirty="0">
                <a:solidFill>
                  <a:srgbClr val="FFCCCC"/>
                </a:solidFill>
                <a:latin typeface="Calibri"/>
              </a:rPr>
              <a:t xml:space="preserve"> </a:t>
            </a:r>
            <a:r>
              <a:rPr lang="tr-TR" sz="1100" b="1" dirty="0" err="1">
                <a:solidFill>
                  <a:srgbClr val="FFCCCC"/>
                </a:solidFill>
                <a:latin typeface="Calibri"/>
              </a:rPr>
              <a:t>localhost’ta</a:t>
            </a:r>
            <a:r>
              <a:rPr lang="tr-TR" sz="1100" b="1" dirty="0">
                <a:solidFill>
                  <a:srgbClr val="FFCCCC"/>
                </a:solidFill>
                <a:latin typeface="Calibri"/>
              </a:rPr>
              <a:t xml:space="preserve"> 81 çıktı çünkü HTTPS yoktu. </a:t>
            </a:r>
            <a:r>
              <a:rPr lang="tr-TR" sz="1100" b="1" dirty="0" err="1">
                <a:solidFill>
                  <a:srgbClr val="FFCCCC"/>
                </a:solidFill>
                <a:latin typeface="Calibri"/>
              </a:rPr>
              <a:t>GitHub</a:t>
            </a:r>
            <a:r>
              <a:rPr lang="tr-TR" sz="1100" b="1" dirty="0">
                <a:solidFill>
                  <a:srgbClr val="FFCCCC"/>
                </a:solidFill>
                <a:latin typeface="Calibri"/>
              </a:rPr>
              <a:t xml:space="preserve"> </a:t>
            </a:r>
            <a:r>
              <a:rPr lang="tr-TR" sz="1100" b="1" dirty="0" err="1">
                <a:solidFill>
                  <a:srgbClr val="FFCCCC"/>
                </a:solidFill>
                <a:latin typeface="Calibri"/>
              </a:rPr>
              <a:t>Pages’te</a:t>
            </a:r>
            <a:r>
              <a:rPr lang="tr-TR" sz="1100" b="1" dirty="0">
                <a:solidFill>
                  <a:srgbClr val="FFCCCC"/>
                </a:solidFill>
                <a:latin typeface="Calibri"/>
              </a:rPr>
              <a:t xml:space="preserve"> 100 oldu.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Değerlendirme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599873" y="898000"/>
            <a:ext cx="24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100" b="1">
                <a:solidFill>
                  <a:srgbClr val="FFCCCC"/>
                </a:solidFill>
                <a:latin typeface="Calibri"/>
              </a:rPr>
              <a:t>Kategori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249746" y="870000"/>
            <a:ext cx="7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tr-TR" sz="1100" b="1">
                <a:solidFill>
                  <a:srgbClr val="FFCCCC"/>
                </a:solidFill>
                <a:latin typeface="Calibri"/>
              </a:rPr>
              <a:t>Ağırlık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025000" y="888768"/>
            <a:ext cx="70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tr-TR" sz="1100" b="1">
                <a:solidFill>
                  <a:srgbClr val="FFCCCC"/>
                </a:solidFill>
                <a:latin typeface="Calibri"/>
              </a:rPr>
              <a:t>Puan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4894604" y="888768"/>
            <a:ext cx="6688952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100" b="1">
                <a:solidFill>
                  <a:srgbClr val="FFCCCC"/>
                </a:solidFill>
                <a:latin typeface="Calibri"/>
              </a:rPr>
              <a:t>Ölçüm</a:t>
            </a:r>
          </a:p>
        </p:txBody>
      </p:sp>
      <p:sp>
        <p:nvSpPr>
          <p:cNvPr id="14" name="Card14"/>
          <p:cNvSpPr/>
          <p:nvPr/>
        </p:nvSpPr>
        <p:spPr>
          <a:xfrm>
            <a:off x="500000" y="115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5" name="Text15"/>
          <p:cNvSpPr txBox="1"/>
          <p:nvPr/>
        </p:nvSpPr>
        <p:spPr>
          <a:xfrm>
            <a:off x="700000" y="132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Görsel Tasarım</a:t>
            </a:r>
          </a:p>
        </p:txBody>
      </p:sp>
      <p:sp>
        <p:nvSpPr>
          <p:cNvPr id="16" name="Pill16"/>
          <p:cNvSpPr/>
          <p:nvPr/>
        </p:nvSpPr>
        <p:spPr>
          <a:xfrm>
            <a:off x="3300000" y="129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%15</a:t>
            </a:r>
          </a:p>
        </p:txBody>
      </p:sp>
      <p:sp>
        <p:nvSpPr>
          <p:cNvPr id="17" name="ScorePill17"/>
          <p:cNvSpPr/>
          <p:nvPr/>
        </p:nvSpPr>
        <p:spPr>
          <a:xfrm>
            <a:off x="4100000" y="129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1565C0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1565C0"/>
                </a:solidFill>
                <a:latin typeface="Calibri"/>
              </a:rPr>
              <a:t>12/15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900000" y="132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>
                <a:solidFill>
                  <a:srgbClr val="666666"/>
                </a:solidFill>
                <a:latin typeface="Calibri"/>
              </a:rPr>
              <a:t>Ana mesaj anlaşılabiliyor. Renk kontrast iyi. Header sade kaldı.</a:t>
            </a:r>
          </a:p>
        </p:txBody>
      </p:sp>
      <p:sp>
        <p:nvSpPr>
          <p:cNvPr id="19" name="Card19"/>
          <p:cNvSpPr/>
          <p:nvPr/>
        </p:nvSpPr>
        <p:spPr>
          <a:xfrm>
            <a:off x="500000" y="181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0" name="Text20"/>
          <p:cNvSpPr txBox="1"/>
          <p:nvPr/>
        </p:nvSpPr>
        <p:spPr>
          <a:xfrm>
            <a:off x="700000" y="198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Kullanılabilirlik</a:t>
            </a:r>
          </a:p>
        </p:txBody>
      </p:sp>
      <p:sp>
        <p:nvSpPr>
          <p:cNvPr id="21" name="Pill21"/>
          <p:cNvSpPr/>
          <p:nvPr/>
        </p:nvSpPr>
        <p:spPr>
          <a:xfrm>
            <a:off x="3300000" y="195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%20</a:t>
            </a:r>
          </a:p>
        </p:txBody>
      </p:sp>
      <p:sp>
        <p:nvSpPr>
          <p:cNvPr id="22" name="ScorePill22"/>
          <p:cNvSpPr/>
          <p:nvPr/>
        </p:nvSpPr>
        <p:spPr>
          <a:xfrm>
            <a:off x="4100000" y="195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1565C0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1565C0"/>
                </a:solidFill>
                <a:latin typeface="Calibri"/>
              </a:rPr>
              <a:t>15/20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4900000" y="198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>
                <a:solidFill>
                  <a:srgbClr val="666666"/>
                </a:solidFill>
                <a:latin typeface="Calibri"/>
              </a:rPr>
              <a:t>Nav linkleri çalışıyor. 3 tıklama kuralına uyuyor. Hover sadece nav’da.</a:t>
            </a:r>
          </a:p>
        </p:txBody>
      </p:sp>
      <p:sp>
        <p:nvSpPr>
          <p:cNvPr id="24" name="Card24"/>
          <p:cNvSpPr/>
          <p:nvPr/>
        </p:nvSpPr>
        <p:spPr>
          <a:xfrm>
            <a:off x="500000" y="247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5" name="Text25"/>
          <p:cNvSpPr txBox="1"/>
          <p:nvPr/>
        </p:nvSpPr>
        <p:spPr>
          <a:xfrm>
            <a:off x="700000" y="264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Kullanıcı Deneyimi</a:t>
            </a:r>
          </a:p>
        </p:txBody>
      </p:sp>
      <p:sp>
        <p:nvSpPr>
          <p:cNvPr id="26" name="Pill26"/>
          <p:cNvSpPr/>
          <p:nvPr/>
        </p:nvSpPr>
        <p:spPr>
          <a:xfrm>
            <a:off x="3300000" y="261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%20</a:t>
            </a:r>
          </a:p>
        </p:txBody>
      </p:sp>
      <p:sp>
        <p:nvSpPr>
          <p:cNvPr id="27" name="ScorePill27"/>
          <p:cNvSpPr/>
          <p:nvPr/>
        </p:nvSpPr>
        <p:spPr>
          <a:xfrm>
            <a:off x="4100000" y="261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E65100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E65100"/>
                </a:solidFill>
                <a:latin typeface="Calibri"/>
              </a:rPr>
              <a:t>10/20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4900000" y="264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>
                <a:solidFill>
                  <a:srgbClr val="666666"/>
                </a:solidFill>
                <a:latin typeface="Calibri"/>
              </a:rPr>
              <a:t>JS kullanmadık, etkileşim yok. Animasyon yok.</a:t>
            </a:r>
          </a:p>
        </p:txBody>
      </p:sp>
      <p:sp>
        <p:nvSpPr>
          <p:cNvPr id="29" name="Card29"/>
          <p:cNvSpPr/>
          <p:nvPr/>
        </p:nvSpPr>
        <p:spPr>
          <a:xfrm>
            <a:off x="500000" y="313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0" name="Text30"/>
          <p:cNvSpPr txBox="1"/>
          <p:nvPr/>
        </p:nvSpPr>
        <p:spPr>
          <a:xfrm>
            <a:off x="700000" y="330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Performans</a:t>
            </a:r>
          </a:p>
        </p:txBody>
      </p:sp>
      <p:sp>
        <p:nvSpPr>
          <p:cNvPr id="31" name="Pill31"/>
          <p:cNvSpPr/>
          <p:nvPr/>
        </p:nvSpPr>
        <p:spPr>
          <a:xfrm>
            <a:off x="3300000" y="327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%15</a:t>
            </a:r>
          </a:p>
        </p:txBody>
      </p:sp>
      <p:sp>
        <p:nvSpPr>
          <p:cNvPr id="32" name="ScorePill32"/>
          <p:cNvSpPr/>
          <p:nvPr/>
        </p:nvSpPr>
        <p:spPr>
          <a:xfrm>
            <a:off x="4100000" y="327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2E7D32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2E7D32"/>
                </a:solidFill>
                <a:latin typeface="Calibri"/>
              </a:rPr>
              <a:t>15/15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4900000" y="330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>
                <a:solidFill>
                  <a:srgbClr val="666666"/>
                </a:solidFill>
                <a:latin typeface="Calibri"/>
              </a:rPr>
              <a:t>Lighthouse: masaüstünde 100, mobilde 95. Tam puan.</a:t>
            </a:r>
          </a:p>
        </p:txBody>
      </p:sp>
      <p:sp>
        <p:nvSpPr>
          <p:cNvPr id="34" name="Card34"/>
          <p:cNvSpPr/>
          <p:nvPr/>
        </p:nvSpPr>
        <p:spPr>
          <a:xfrm>
            <a:off x="500000" y="379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5" name="Text35"/>
          <p:cNvSpPr txBox="1"/>
          <p:nvPr/>
        </p:nvSpPr>
        <p:spPr>
          <a:xfrm>
            <a:off x="700000" y="396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Responsive</a:t>
            </a:r>
          </a:p>
        </p:txBody>
      </p:sp>
      <p:sp>
        <p:nvSpPr>
          <p:cNvPr id="36" name="Pill36"/>
          <p:cNvSpPr/>
          <p:nvPr/>
        </p:nvSpPr>
        <p:spPr>
          <a:xfrm>
            <a:off x="3300000" y="393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%15</a:t>
            </a:r>
          </a:p>
        </p:txBody>
      </p:sp>
      <p:sp>
        <p:nvSpPr>
          <p:cNvPr id="37" name="ScorePill37"/>
          <p:cNvSpPr/>
          <p:nvPr/>
        </p:nvSpPr>
        <p:spPr>
          <a:xfrm>
            <a:off x="4100000" y="393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E65100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57C00"/>
                </a:solidFill>
                <a:latin typeface="Calibri"/>
              </a:rPr>
              <a:t>12/15</a:t>
            </a:r>
          </a:p>
        </p:txBody>
      </p:sp>
      <p:sp>
        <p:nvSpPr>
          <p:cNvPr id="38" name="Text38"/>
          <p:cNvSpPr txBox="1"/>
          <p:nvPr/>
        </p:nvSpPr>
        <p:spPr>
          <a:xfrm>
            <a:off x="4900000" y="396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 dirty="0">
                <a:solidFill>
                  <a:srgbClr val="666666"/>
                </a:solidFill>
                <a:latin typeface="Calibri"/>
              </a:rPr>
              <a:t>@media sorgusu var. Semantik HTML ile Accessibility 100 oldu.</a:t>
            </a:r>
            <a:r>
              <a:rPr lang="tr-TR" sz="1050" b="0" dirty="0">
                <a:solidFill>
                  <a:srgbClr val="666666"/>
                </a:solidFill>
                <a:latin typeface="Calibri"/>
              </a:rPr>
              <a:t/>
            </a:r>
          </a:p>
        </p:txBody>
      </p:sp>
      <p:sp>
        <p:nvSpPr>
          <p:cNvPr id="39" name="Card39"/>
          <p:cNvSpPr/>
          <p:nvPr/>
        </p:nvSpPr>
        <p:spPr>
          <a:xfrm>
            <a:off x="500000" y="4450000"/>
            <a:ext cx="11188952" cy="5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0" name="Text40"/>
          <p:cNvSpPr txBox="1"/>
          <p:nvPr/>
        </p:nvSpPr>
        <p:spPr>
          <a:xfrm>
            <a:off x="700000" y="462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400" b="1">
                <a:solidFill>
                  <a:srgbClr val="6B0000"/>
                </a:solidFill>
                <a:latin typeface="Calibri"/>
              </a:rPr>
              <a:t>İçerik &amp; SEO</a:t>
            </a:r>
          </a:p>
        </p:txBody>
      </p:sp>
      <p:sp>
        <p:nvSpPr>
          <p:cNvPr id="41" name="Pill41"/>
          <p:cNvSpPr/>
          <p:nvPr/>
        </p:nvSpPr>
        <p:spPr>
          <a:xfrm>
            <a:off x="3300000" y="459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6B0000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100" b="1">
                <a:solidFill>
                  <a:srgbClr val="6B0000"/>
                </a:solidFill>
                <a:latin typeface="Calibri"/>
              </a:rPr>
              <a:t>%15</a:t>
            </a:r>
          </a:p>
        </p:txBody>
      </p:sp>
      <p:sp>
        <p:nvSpPr>
          <p:cNvPr id="42" name="ScorePill42"/>
          <p:cNvSpPr/>
          <p:nvPr/>
        </p:nvSpPr>
        <p:spPr>
          <a:xfrm>
            <a:off x="4100000" y="4590000"/>
            <a:ext cx="550000" cy="300000"/>
          </a:xfrm>
          <a:prstGeom prst="roundRect">
            <a:avLst>
              <a:gd name="adj" fmla="val 16667"/>
            </a:avLst>
          </a:prstGeom>
          <a:solidFill>
            <a:srgbClr val="E65100">
              <a:alpha val="18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E65100"/>
                </a:solidFill>
                <a:latin typeface="Calibri"/>
              </a:rPr>
              <a:t>10/15</a:t>
            </a:r>
          </a:p>
        </p:txBody>
      </p:sp>
      <p:sp>
        <p:nvSpPr>
          <p:cNvPr id="43" name="Text43"/>
          <p:cNvSpPr txBox="1"/>
          <p:nvPr/>
        </p:nvSpPr>
        <p:spPr>
          <a:xfrm>
            <a:off x="4900000" y="4620000"/>
            <a:ext cx="6588952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050" b="0">
                <a:solidFill>
                  <a:srgbClr val="666666"/>
                </a:solidFill>
                <a:latin typeface="Calibri"/>
              </a:rPr>
              <a:t>H1–H3 hiyerarşisi doğru.</a:t>
            </a:r>
          </a:p>
        </p:txBody>
      </p:sp>
      <p:sp>
        <p:nvSpPr>
          <p:cNvPr id="44" name="Card44"/>
          <p:cNvSpPr/>
          <p:nvPr/>
        </p:nvSpPr>
        <p:spPr>
          <a:xfrm>
            <a:off x="500000" y="5160000"/>
            <a:ext cx="11188952" cy="600000"/>
          </a:xfrm>
          <a:prstGeom prst="roundRect">
            <a:avLst>
              <a:gd name="adj" fmla="val 4000"/>
            </a:avLst>
          </a:prstGeom>
          <a:solidFill>
            <a:srgbClr val="6B0000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5" name="Text45"/>
          <p:cNvSpPr txBox="1"/>
          <p:nvPr/>
        </p:nvSpPr>
        <p:spPr>
          <a:xfrm>
            <a:off x="700000" y="533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tr-TR" sz="1600" b="1">
                <a:solidFill>
                  <a:srgbClr val="FFFFFF"/>
                </a:solidFill>
                <a:latin typeface="Calibri"/>
              </a:rPr>
              <a:t>TOPLAM</a:t>
            </a:r>
          </a:p>
        </p:txBody>
      </p:sp>
      <p:sp>
        <p:nvSpPr>
          <p:cNvPr id="46" name="Text46"/>
          <p:cNvSpPr txBox="1"/>
          <p:nvPr/>
        </p:nvSpPr>
        <p:spPr>
          <a:xfrm>
            <a:off x="9688952" y="5300000"/>
            <a:ext cx="1800000" cy="3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tr-TR" sz="2000" b="1" dirty="0">
                <a:solidFill>
                  <a:srgbClr val="FFFFFF"/>
                </a:solidFill>
                <a:latin typeface="Calibri"/>
              </a:rPr>
              <a:t>74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Neler Öğrendik?</a:t>
            </a:r>
          </a:p>
        </p:txBody>
      </p:sp>
      <p:sp>
        <p:nvSpPr>
          <p:cNvPr id="10" name="Card1"/>
          <p:cNvSpPr/>
          <p:nvPr/>
        </p:nvSpPr>
        <p:spPr>
          <a:xfrm>
            <a:off x="500000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HTML Yapısı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Bir sayfayı bölümlemek, başlık hiyerarşisi oluşturmak ve anchor linklerle gezinme sağlamak.</a:t>
            </a:r>
          </a:p>
        </p:txBody>
      </p:sp>
      <p:sp>
        <p:nvSpPr>
          <p:cNvPr id="11" name="Badge1"/>
          <p:cNvSpPr>
            <a:spLocks/>
          </p:cNvSpPr>
          <p:nvPr/>
        </p:nvSpPr>
        <p:spPr>
          <a:xfrm>
            <a:off x="700000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Card2"/>
          <p:cNvSpPr>
            <a:spLocks/>
          </p:cNvSpPr>
          <p:nvPr/>
        </p:nvSpPr>
        <p:spPr>
          <a:xfrm>
            <a:off x="4324476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CSS Tasarımı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Flexbox ile kart düzeni, hover efekti, @media ile mobil uyumluluk.</a:t>
            </a:r>
          </a:p>
        </p:txBody>
      </p:sp>
      <p:sp>
        <p:nvSpPr>
          <p:cNvPr id="13" name="Badge2"/>
          <p:cNvSpPr/>
          <p:nvPr/>
        </p:nvSpPr>
        <p:spPr>
          <a:xfrm>
            <a:off x="4524476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Card3"/>
          <p:cNvSpPr/>
          <p:nvPr/>
        </p:nvSpPr>
        <p:spPr>
          <a:xfrm>
            <a:off x="8148952" y="1250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İçerik Araştırma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Her bilgiyi doğrulamak gerekiyor. Yanlış bulduğumuz şeyleri çıkardık.</a:t>
            </a:r>
          </a:p>
        </p:txBody>
      </p:sp>
      <p:sp>
        <p:nvSpPr>
          <p:cNvPr id="15" name="Badge3"/>
          <p:cNvSpPr>
            <a:spLocks/>
          </p:cNvSpPr>
          <p:nvPr/>
        </p:nvSpPr>
        <p:spPr>
          <a:xfrm>
            <a:off x="8348952" y="1400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Card4"/>
          <p:cNvSpPr>
            <a:spLocks/>
          </p:cNvSpPr>
          <p:nvPr/>
        </p:nvSpPr>
        <p:spPr>
          <a:xfrm>
            <a:off x="500000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Lighthouse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Sitenin performansını, erişebilirliğini ve SEO uyumunu test etmeyi öğrendik.</a:t>
            </a:r>
          </a:p>
        </p:txBody>
      </p:sp>
      <p:sp>
        <p:nvSpPr>
          <p:cNvPr id="17" name="Badge4"/>
          <p:cNvSpPr/>
          <p:nvPr/>
        </p:nvSpPr>
        <p:spPr>
          <a:xfrm>
            <a:off x="700000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Card5"/>
          <p:cNvSpPr/>
          <p:nvPr/>
        </p:nvSpPr>
        <p:spPr>
          <a:xfrm>
            <a:off x="4324476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GitHub Pages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Siteyi HTTPS üzerinden yayına almanın localhost testinden farklı sonuçlar verdiğini gördük.</a:t>
            </a:r>
          </a:p>
        </p:txBody>
      </p:sp>
      <p:sp>
        <p:nvSpPr>
          <p:cNvPr id="19" name="Badge5"/>
          <p:cNvSpPr>
            <a:spLocks/>
          </p:cNvSpPr>
          <p:nvPr/>
        </p:nvSpPr>
        <p:spPr>
          <a:xfrm>
            <a:off x="4524476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Card6"/>
          <p:cNvSpPr>
            <a:spLocks/>
          </p:cNvSpPr>
          <p:nvPr/>
        </p:nvSpPr>
        <p:spPr>
          <a:xfrm>
            <a:off x="8148952" y="3994000"/>
            <a:ext cx="3540000" cy="24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68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Proje Süreci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Rapor yazmak ve sunum hazırlamak da projenin bir parçasıydı.</a:t>
            </a:r>
          </a:p>
        </p:txBody>
      </p:sp>
      <p:sp>
        <p:nvSpPr>
          <p:cNvPr id="21" name="Badge6"/>
          <p:cNvSpPr/>
          <p:nvPr/>
        </p:nvSpPr>
        <p:spPr>
          <a:xfrm>
            <a:off x="8348952" y="4144000"/>
            <a:ext cx="380000" cy="380000"/>
          </a:xfrm>
          <a:prstGeom prst="ellipse">
            <a:avLst/>
          </a:prstGeom>
          <a:solidFill>
            <a:srgbClr val="6B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tr-TR"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itle"/>
          <p:cNvSpPr txBox="1">
            <a:spLocks/>
          </p:cNvSpPr>
          <p:nvPr/>
        </p:nvSpPr>
        <p:spPr>
          <a:xfrm>
            <a:off x="500000" y="280000"/>
            <a:ext cx="11188952" cy="6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3600" b="1">
                <a:solidFill>
                  <a:srgbClr val="FFFFFF"/>
                </a:solidFill>
                <a:latin typeface="Calibri"/>
              </a:rPr>
              <a:t>Eksikler ve İlerleyen Adımlar</a:t>
            </a:r>
          </a:p>
        </p:txBody>
      </p:sp>
      <p:sp>
        <p:nvSpPr>
          <p:cNvPr id="10" name="Card10"/>
          <p:cNvSpPr/>
          <p:nvPr/>
        </p:nvSpPr>
        <p:spPr>
          <a:xfrm>
            <a:off x="500000" y="1250000"/>
            <a:ext cx="545000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Bildiğimiz Eksikler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Meta description etiketi yok — SEO puanını etkiliyor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Meta description eksik — SEO puanını etkiliyor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JavaScript yok — etkileşim ve mikro animasyon yok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Görsel yok — resim, harita eklenmedi</a:t>
            </a:r>
          </a:p>
        </p:txBody>
      </p:sp>
      <p:sp>
        <p:nvSpPr>
          <p:cNvPr id="11" name="Card11"/>
          <p:cNvSpPr>
            <a:spLocks/>
          </p:cNvSpPr>
          <p:nvPr/>
        </p:nvSpPr>
        <p:spPr>
          <a:xfrm>
            <a:off x="6238952" y="1250000"/>
            <a:ext cx="545000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 dirty="0">
                <a:solidFill>
                  <a:srgbClr val="6B0000"/>
                </a:solidFill>
                <a:latin typeface="Calibri"/>
              </a:rPr>
              <a:t>JavaScript Öğrenince Eklenebilecekler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>•  Bölümler arası animasyonlu geçiş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>•  Harita entegrasyonu — ilçeler interaktif</a:t>
            </a:r>
          </a:p>
          <a:p>
            <a:pPr algn="l">
              <a:lnSpc>
                <a:spcPts val="1800"/>
              </a:lnSpc>
            </a:pP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•  Dark </a:t>
            </a:r>
            <a:r>
              <a:rPr lang="tr-TR" sz="1200" b="0" dirty="0" err="1">
                <a:solidFill>
                  <a:srgbClr val="555555"/>
                </a:solidFill>
                <a:latin typeface="Calibri"/>
              </a:rPr>
              <a:t>mode</a:t>
            </a:r>
            <a:r>
              <a:rPr lang="tr-TR" sz="1200" b="0" dirty="0">
                <a:solidFill>
                  <a:srgbClr val="555555"/>
                </a:solidFill>
                <a:latin typeface="Calibri"/>
              </a:rPr>
              <a:t xml:space="preserve"> </a:t>
            </a:r>
            <a:r>
              <a:rPr lang="tr-TR" sz="1200" b="0" dirty="0" err="1">
                <a:solidFill>
                  <a:srgbClr val="555555"/>
                </a:solidFill>
                <a:latin typeface="Calibri"/>
              </a:rPr>
              <a:t>toggle</a:t>
            </a:r>
            <a:endParaRPr lang="tr-TR" sz="1200" b="0" dirty="0">
              <a:solidFill>
                <a:srgbClr val="5555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3" name="ThankYou"/>
          <p:cNvSpPr txBox="1">
            <a:spLocks/>
          </p:cNvSpPr>
          <p:nvPr/>
        </p:nvSpPr>
        <p:spPr>
          <a:xfrm>
            <a:off x="500000" y="1500000"/>
            <a:ext cx="5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tr-TR" sz="4400" b="1">
                <a:solidFill>
                  <a:srgbClr val="FFFFFF"/>
                </a:solidFill>
                <a:latin typeface="Calibri"/>
              </a:rPr>
              <a:t>Dinlediğiniz</a:t>
            </a:r>
          </a:p>
          <a:p>
            <a:pPr algn="l"/>
            <a:r>
              <a:rPr lang="tr-TR" sz="4400" b="1">
                <a:solidFill>
                  <a:srgbClr val="FFFFFF"/>
                </a:solidFill>
                <a:latin typeface="Calibri"/>
              </a:rPr>
              <a:t>İçin Teşekkürler</a:t>
            </a:r>
          </a:p>
        </p:txBody>
      </p:sp>
      <p:sp>
        <p:nvSpPr>
          <p:cNvPr id="10" name="Card10"/>
          <p:cNvSpPr>
            <a:spLocks/>
          </p:cNvSpPr>
          <p:nvPr/>
        </p:nvSpPr>
        <p:spPr>
          <a:xfrm>
            <a:off x="5700000" y="1200000"/>
            <a:ext cx="5988952" cy="4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 wrap="square" lIns="250000" tIns="250000" rIns="250000" bIns="200000" anchor="t"/>
          <a:lstStyle/>
          <a:p>
            <a:pPr algn="l">
              <a:spcAft>
                <a:spcPts val="500"/>
              </a:spcAft>
            </a:pPr>
            <a:r>
              <a:rPr lang="tr-TR" sz="1800" b="1">
                <a:solidFill>
                  <a:srgbClr val="6B0000"/>
                </a:solidFill>
                <a:latin typeface="Calibri"/>
              </a:rPr>
              <a:t>Proje Özeti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HTML + CSS ile tek sayfalik tanıtım sitesi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İçerikler araştırılarak yazıldı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GitHub Pages ile HTTPS'te yayınlandı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Lighthouse: Masaüstünde 100, Mobilde 95</a:t>
            </a:r>
          </a:p>
          <a:p>
            <a:pPr algn="l">
              <a:lnSpc>
                <a:spcPts val="1800"/>
              </a:lnSpc>
            </a:pPr>
            <a:r>
              <a:rPr lang="tr-TR" sz="1200" b="0">
                <a:solidFill>
                  <a:srgbClr val="555555"/>
                </a:solidFill>
                <a:latin typeface="Calibri"/>
              </a:rPr>
              <a:t>•  Toplam puan: 74/100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754</Words>
  <Application>Microsoft Office PowerPoint</Application>
  <PresentationFormat>Özel</PresentationFormat>
  <Paragraphs>188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Muhammet Mücahit Soylu</cp:lastModifiedBy>
  <cp:revision>3</cp:revision>
  <dcterms:created xsi:type="dcterms:W3CDTF">2013-01-27T09:14:16Z</dcterms:created>
  <dcterms:modified xsi:type="dcterms:W3CDTF">2026-05-09T09:21:51Z</dcterms:modified>
  <cp:category/>
</cp:coreProperties>
</file>